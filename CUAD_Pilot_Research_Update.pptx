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4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STUDY · QUICK RESEARCH UPDATE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Propagation in Sequential LLM-Mediated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CUAD Multi-Agent Pilot · Study 1 — experimental design &amp; engineering framework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38988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3970">
            <a:solidFill>
              <a:srgbClr val="0E5A55"/>
            </a:solidFill>
            <a:prstDash val="solid"/>
          </a:ln>
          <a:effectLst>
            <a:outerShdw sx="100000" sy="100000" kx="0" ky="0" algn="bl" rotWithShape="0" blurRad="101600" dist="25400" dir="5400000">
              <a:srgbClr val="23413D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13898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contract 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02536" y="2432304"/>
            <a:ext cx="274320" cy="0"/>
          </a:xfrm>
          <a:prstGeom prst="line">
            <a:avLst/>
          </a:prstGeom>
          <a:noFill/>
          <a:ln w="22225">
            <a:solidFill>
              <a:srgbClr val="6E9C9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40864" y="1965960"/>
            <a:ext cx="1389888" cy="932688"/>
          </a:xfrm>
          <a:prstGeom prst="roundRect">
            <a:avLst>
              <a:gd name="adj" fmla="val 6863"/>
            </a:avLst>
          </a:prstGeom>
          <a:solidFill>
            <a:srgbClr val="FFF8EC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5400000">
              <a:srgbClr val="23413D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40864" y="1965960"/>
            <a:ext cx="13898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Analyst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memo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94760" y="2432304"/>
            <a:ext cx="274320" cy="0"/>
          </a:xfrm>
          <a:prstGeom prst="line">
            <a:avLst/>
          </a:prstGeom>
          <a:noFill/>
          <a:ln w="22225">
            <a:solidFill>
              <a:srgbClr val="6E9C9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33088" y="1965960"/>
            <a:ext cx="138988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3970">
            <a:solidFill>
              <a:srgbClr val="0E5A55"/>
            </a:solidFill>
            <a:prstDash val="solid"/>
          </a:ln>
          <a:effectLst>
            <a:outerShdw sx="100000" sy="100000" kx="0" ky="0" algn="bl" rotWithShape="0" blurRad="101600" dist="25400" dir="5400000">
              <a:srgbClr val="23413D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33088" y="1965960"/>
            <a:ext cx="13898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86984" y="2432304"/>
            <a:ext cx="274320" cy="0"/>
          </a:xfrm>
          <a:prstGeom prst="line">
            <a:avLst/>
          </a:prstGeom>
          <a:noFill/>
          <a:ln w="22225">
            <a:solidFill>
              <a:srgbClr val="6E9C9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25312" y="1965960"/>
            <a:ext cx="138988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3970">
            <a:solidFill>
              <a:srgbClr val="0E5A55"/>
            </a:solidFill>
            <a:prstDash val="solid"/>
          </a:ln>
          <a:effectLst>
            <a:outerShdw sx="100000" sy="100000" kx="0" ky="0" algn="bl" rotWithShape="0" blurRad="101600" dist="25400" dir="5400000">
              <a:srgbClr val="23413D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25312" y="1965960"/>
            <a:ext cx="13898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omission in the AI summary travels downstream through review and compliance.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6766560" cy="1115568"/>
          </a:xfrm>
          <a:prstGeom prst="roundRect">
            <a:avLst>
              <a:gd name="adj" fmla="val 6557"/>
            </a:avLst>
          </a:prstGeom>
          <a:solidFill>
            <a:srgbClr val="E9F2F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429000"/>
            <a:ext cx="6126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A3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“How organizational workflows transform, preserve, or correct AI-generated errors.”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479145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benchmark of agent capability — the workflow itself is the unit of analysis.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852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2852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Systems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96312" y="5285232"/>
            <a:ext cx="68580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96312" y="528523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46704" y="5285232"/>
            <a:ext cx="1645920" cy="384048"/>
          </a:xfrm>
          <a:prstGeom prst="roundRect">
            <a:avLst>
              <a:gd name="adj" fmla="val 47619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46704" y="52852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AI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635240" y="1965960"/>
            <a:ext cx="4005072" cy="1325880"/>
          </a:xfrm>
          <a:prstGeom prst="roundRect">
            <a:avLst>
              <a:gd name="adj" fmla="val 4828"/>
            </a:avLst>
          </a:prstGeom>
          <a:solidFill>
            <a:srgbClr val="F2F7F6"/>
          </a:solidFill>
          <a:ln/>
        </p:spPr>
      </p:sp>
      <p:sp>
        <p:nvSpPr>
          <p:cNvPr id="27" name="Text 25"/>
          <p:cNvSpPr/>
          <p:nvPr/>
        </p:nvSpPr>
        <p:spPr>
          <a:xfrm>
            <a:off x="7882128" y="211226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5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 1 · ERROR PROPAGATION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82128" y="24231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an upstream omission error survive the downstream organizational workflow?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35240" y="3447288"/>
            <a:ext cx="4005072" cy="1325880"/>
          </a:xfrm>
          <a:prstGeom prst="roundRect">
            <a:avLst>
              <a:gd name="adj" fmla="val 4828"/>
            </a:avLst>
          </a:prstGeom>
          <a:solidFill>
            <a:srgbClr val="F2F7F6"/>
          </a:solidFill>
          <a:ln/>
        </p:spPr>
      </p:sp>
      <p:sp>
        <p:nvSpPr>
          <p:cNvPr id="30" name="Text 28"/>
          <p:cNvSpPr/>
          <p:nvPr/>
        </p:nvSpPr>
        <p:spPr>
          <a:xfrm>
            <a:off x="7882128" y="35935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5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 2 · SOURCE ACCESSIBILITY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82128" y="390448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access to original source evidence help correction?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35240" y="4928616"/>
            <a:ext cx="4005072" cy="1325880"/>
          </a:xfrm>
          <a:prstGeom prst="roundRect">
            <a:avLst>
              <a:gd name="adj" fmla="val 4828"/>
            </a:avLst>
          </a:prstGeom>
          <a:solidFill>
            <a:srgbClr val="F2F7F6"/>
          </a:solidFill>
          <a:ln/>
        </p:spPr>
      </p:sp>
      <p:sp>
        <p:nvSpPr>
          <p:cNvPr id="33" name="Text 31"/>
          <p:cNvSpPr/>
          <p:nvPr/>
        </p:nvSpPr>
        <p:spPr>
          <a:xfrm>
            <a:off x="7882128" y="50749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5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 3 · VERIFICATION GOVERNANCE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82128" y="5385816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mandatory verification improve evidence-grounded correction?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4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DESIGN · STUDY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Manipulating Information Quality and Governance Mechanisms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manipulated dimensions — upstream error × governance mechanism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3 factorial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conditions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874520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874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A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A0V0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source access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mandatory verification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14416" y="1874520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E4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97296" y="1874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A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A1V0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access available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optional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85632" y="1874520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1874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A1V1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access available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verification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2057400" cy="1325880"/>
          </a:xfrm>
          <a:prstGeom prst="roundRect">
            <a:avLst>
              <a:gd name="adj" fmla="val 4828"/>
            </a:avLst>
          </a:prstGeom>
          <a:solidFill>
            <a:srgbClr val="F2F7F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44368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spc="100" kern="0" dirty="0">
                <a:solidFill>
                  <a:srgbClr val="0E5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 · BASELINE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analyst memo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407408"/>
            <a:ext cx="2057400" cy="1325880"/>
          </a:xfrm>
          <a:prstGeom prst="roundRect">
            <a:avLst>
              <a:gd name="adj" fmla="val 4828"/>
            </a:avLst>
          </a:prstGeom>
          <a:solidFill>
            <a:srgbClr val="FDF3E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407408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spc="1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· TREATMENT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critical clause omitted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0" y="2944368"/>
            <a:ext cx="2743200" cy="1325880"/>
          </a:xfrm>
          <a:prstGeom prst="roundRect">
            <a:avLst>
              <a:gd name="adj" fmla="val 4828"/>
            </a:avLst>
          </a:prstGeom>
          <a:solidFill>
            <a:srgbClr val="F7FAF9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944368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A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 · A0V0</a:t>
            </a:r>
            <a:endParaRPr lang="en-US" sz="13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memo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743200" y="4407408"/>
            <a:ext cx="2743200" cy="1325880"/>
          </a:xfrm>
          <a:prstGeom prst="roundRect">
            <a:avLst>
              <a:gd name="adj" fmla="val 4828"/>
            </a:avLst>
          </a:prstGeom>
          <a:solidFill>
            <a:srgbClr val="FBF1E2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4407408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· A0V0</a:t>
            </a:r>
            <a:endParaRPr lang="en-US" sz="13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omission injected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14416" y="2944368"/>
            <a:ext cx="2743200" cy="1325880"/>
          </a:xfrm>
          <a:prstGeom prst="roundRect">
            <a:avLst>
              <a:gd name="adj" fmla="val 4828"/>
            </a:avLst>
          </a:prstGeom>
          <a:solidFill>
            <a:srgbClr val="F7FAF9"/>
          </a:solidFill>
          <a:ln/>
        </p:spPr>
      </p:sp>
      <p:sp>
        <p:nvSpPr>
          <p:cNvPr id="21" name="Text 19"/>
          <p:cNvSpPr/>
          <p:nvPr/>
        </p:nvSpPr>
        <p:spPr>
          <a:xfrm>
            <a:off x="5614416" y="2944368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A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 · A1V0</a:t>
            </a:r>
            <a:endParaRPr lang="en-US" sz="13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memo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14416" y="4407408"/>
            <a:ext cx="2743200" cy="1325880"/>
          </a:xfrm>
          <a:prstGeom prst="roundRect">
            <a:avLst>
              <a:gd name="adj" fmla="val 4828"/>
            </a:avLst>
          </a:prstGeom>
          <a:solidFill>
            <a:srgbClr val="FBF1E2"/>
          </a:solidFill>
          <a:ln/>
        </p:spPr>
      </p:sp>
      <p:sp>
        <p:nvSpPr>
          <p:cNvPr id="23" name="Text 21"/>
          <p:cNvSpPr/>
          <p:nvPr/>
        </p:nvSpPr>
        <p:spPr>
          <a:xfrm>
            <a:off x="5614416" y="4407408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· A1V0</a:t>
            </a:r>
            <a:endParaRPr lang="en-US" sz="13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omission injected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485632" y="2944368"/>
            <a:ext cx="2743200" cy="1325880"/>
          </a:xfrm>
          <a:prstGeom prst="roundRect">
            <a:avLst>
              <a:gd name="adj" fmla="val 4828"/>
            </a:avLst>
          </a:prstGeom>
          <a:solidFill>
            <a:srgbClr val="F7FAF9"/>
          </a:solidFill>
          <a:ln/>
        </p:spPr>
      </p:sp>
      <p:sp>
        <p:nvSpPr>
          <p:cNvPr id="25" name="Text 23"/>
          <p:cNvSpPr/>
          <p:nvPr/>
        </p:nvSpPr>
        <p:spPr>
          <a:xfrm>
            <a:off x="8485632" y="2944368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A3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 · A1V1</a:t>
            </a:r>
            <a:endParaRPr lang="en-US" sz="13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memo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485632" y="4407408"/>
            <a:ext cx="2743200" cy="1325880"/>
          </a:xfrm>
          <a:prstGeom prst="roundRect">
            <a:avLst>
              <a:gd name="adj" fmla="val 4828"/>
            </a:avLst>
          </a:prstGeom>
          <a:solidFill>
            <a:srgbClr val="FBF1E2"/>
          </a:solidFill>
          <a:ln/>
        </p:spPr>
      </p:sp>
      <p:sp>
        <p:nvSpPr>
          <p:cNvPr id="27" name="Text 25"/>
          <p:cNvSpPr/>
          <p:nvPr/>
        </p:nvSpPr>
        <p:spPr>
          <a:xfrm>
            <a:off x="8485632" y="4407408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· A1V1</a:t>
            </a:r>
            <a:endParaRPr lang="en-US" sz="135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omission injected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0" y="6053328"/>
            <a:ext cx="12188952" cy="548640"/>
          </a:xfrm>
          <a:prstGeom prst="rect">
            <a:avLst/>
          </a:prstGeom>
          <a:solidFill>
            <a:srgbClr val="E9F2F0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6053328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A3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focus — error survival and correction, not only final decision accuracy.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4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Sequential Multi-Agent Workflow (Pilot v1)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pipeline — fixed order, one pass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79476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6E9C96"/>
            </a:solidFill>
            <a:prstDash val="solid"/>
          </a:ln>
          <a:effectLst>
            <a:outerShdw sx="100000" sy="100000" kx="0" ky="0" algn="bl" rotWithShape="0" blurRad="101600" dist="25400" dir="5400000">
              <a:srgbClr val="23413D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2880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Contract</a:t>
            </a:r>
            <a:endParaRPr lang="en-US" sz="12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input · CUAD clause set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20340" y="2578608"/>
            <a:ext cx="0" cy="201168"/>
          </a:xfrm>
          <a:prstGeom prst="line">
            <a:avLst/>
          </a:prstGeom>
          <a:noFill/>
          <a:ln w="22225">
            <a:solidFill>
              <a:srgbClr val="6E9C9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2960" y="2816352"/>
            <a:ext cx="3794760" cy="713232"/>
          </a:xfrm>
          <a:prstGeom prst="roundRect">
            <a:avLst>
              <a:gd name="adj" fmla="val 8974"/>
            </a:avLst>
          </a:prstGeom>
          <a:solidFill>
            <a:srgbClr val="FFF8EC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5400000">
              <a:srgbClr val="23413D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816352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Analyst Artifact</a:t>
            </a:r>
            <a:endParaRPr lang="en-US" sz="12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 correct · E1 omission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20340" y="3566160"/>
            <a:ext cx="0" cy="201168"/>
          </a:xfrm>
          <a:prstGeom prst="line">
            <a:avLst/>
          </a:prstGeom>
          <a:noFill/>
          <a:ln w="22225">
            <a:solidFill>
              <a:srgbClr val="6E9C9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" y="3803904"/>
            <a:ext cx="3794760" cy="713232"/>
          </a:xfrm>
          <a:prstGeom prst="roundRect">
            <a:avLst>
              <a:gd name="adj" fmla="val 8974"/>
            </a:avLst>
          </a:prstGeom>
          <a:solidFill>
            <a:srgbClr val="0E5A55"/>
          </a:solidFill>
          <a:ln w="12700">
            <a:solidFill>
              <a:srgbClr val="0E5A55"/>
            </a:solidFill>
            <a:prstDash val="solid"/>
          </a:ln>
          <a:effectLst>
            <a:outerShdw sx="100000" sy="100000" kx="0" ky="0" algn="bl" rotWithShape="0" blurRad="101600" dist="25400" dir="5400000">
              <a:srgbClr val="23413D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803904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Agent</a:t>
            </a:r>
            <a:endParaRPr lang="en-US" sz="12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FE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memo · writes handoff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20340" y="4553712"/>
            <a:ext cx="0" cy="201168"/>
          </a:xfrm>
          <a:prstGeom prst="line">
            <a:avLst/>
          </a:prstGeom>
          <a:noFill/>
          <a:ln w="22225">
            <a:solidFill>
              <a:srgbClr val="6E9C9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2960" y="4791456"/>
            <a:ext cx="3794760" cy="713232"/>
          </a:xfrm>
          <a:prstGeom prst="roundRect">
            <a:avLst>
              <a:gd name="adj" fmla="val 8974"/>
            </a:avLst>
          </a:prstGeom>
          <a:solidFill>
            <a:srgbClr val="0E5A55"/>
          </a:solidFill>
          <a:ln w="12700">
            <a:solidFill>
              <a:srgbClr val="0E5A55"/>
            </a:solidFill>
            <a:prstDash val="solid"/>
          </a:ln>
          <a:effectLst>
            <a:outerShdw sx="100000" sy="100000" kx="0" ky="0" algn="bl" rotWithShape="0" blurRad="101600" dist="25400" dir="5400000">
              <a:srgbClr val="23413D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791456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Agent</a:t>
            </a:r>
            <a:endParaRPr lang="en-US" sz="12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FE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 handoff · policy check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20340" y="5541264"/>
            <a:ext cx="0" cy="201168"/>
          </a:xfrm>
          <a:prstGeom prst="line">
            <a:avLst/>
          </a:prstGeom>
          <a:noFill/>
          <a:ln w="22225">
            <a:solidFill>
              <a:srgbClr val="6E9C9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2960" y="5779008"/>
            <a:ext cx="3794760" cy="713232"/>
          </a:xfrm>
          <a:prstGeom prst="roundRect">
            <a:avLst>
              <a:gd name="adj" fmla="val 8974"/>
            </a:avLst>
          </a:prstGeom>
          <a:solidFill>
            <a:srgbClr val="0A3F3C"/>
          </a:solidFill>
          <a:ln w="12700">
            <a:solidFill>
              <a:srgbClr val="0A3F3C"/>
            </a:solidFill>
            <a:prstDash val="solid"/>
          </a:ln>
          <a:effectLst>
            <a:outerShdw sx="100000" sy="100000" kx="0" ky="0" algn="bl" rotWithShape="0" blurRad="101600" dist="25400" dir="5400000">
              <a:srgbClr val="23413D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577900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Decision</a:t>
            </a:r>
            <a:endParaRPr lang="en-US" sz="12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FD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with full event log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0" y="4160520"/>
            <a:ext cx="0" cy="987552"/>
          </a:xfrm>
          <a:prstGeom prst="line">
            <a:avLst/>
          </a:prstGeom>
          <a:noFill/>
          <a:ln w="19050">
            <a:solidFill>
              <a:srgbClr val="D97706"/>
            </a:solidFill>
            <a:prstDash val="dash"/>
            <a:headEnd type="triangle"/>
          </a:ln>
        </p:spPr>
      </p:sp>
      <p:sp>
        <p:nvSpPr>
          <p:cNvPr id="20" name="Text 18"/>
          <p:cNvSpPr/>
          <p:nvPr/>
        </p:nvSpPr>
        <p:spPr>
          <a:xfrm>
            <a:off x="5166360" y="437997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· off in pilot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20840" y="1828800"/>
            <a:ext cx="4919472" cy="2880360"/>
          </a:xfrm>
          <a:prstGeom prst="roundRect">
            <a:avLst>
              <a:gd name="adj" fmla="val 2540"/>
            </a:avLst>
          </a:prstGeom>
          <a:solidFill>
            <a:srgbClr val="F2F7F6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201168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5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DESIGN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95160" y="243230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Sequential workflow — fixed order, single pass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95160" y="298094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Single-agent nodes — one role per node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35295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Fresh context per role — no shared memory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95160" y="407822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Explicit information boundaries — enforced per node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0840" y="4937760"/>
            <a:ext cx="491947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995160" y="510235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EXTENSION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95160" y="5394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↔ Compliance feedback loop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995160" y="574243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enabled in current pilot.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for a follow-up study — see Discussion.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4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INFRASTRUCTURE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an Auditable Experiment Environment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mechanisms that make the workflow a valid experiment, not a demo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7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06624"/>
            <a:ext cx="3017520" cy="0"/>
          </a:xfrm>
          <a:prstGeom prst="line">
            <a:avLst/>
          </a:prstGeom>
          <a:noFill/>
          <a:ln w="9525">
            <a:solidFill>
              <a:srgbClr val="D8E4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529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ExperimentState per run tracks: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291840"/>
            <a:ext cx="100584" cy="100584"/>
          </a:xfrm>
          <a:prstGeom prst="ellipse">
            <a:avLst/>
          </a:prstGeom>
          <a:solidFill>
            <a:srgbClr val="0E5A55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1912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&amp; contract identity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712464"/>
            <a:ext cx="100584" cy="100584"/>
          </a:xfrm>
          <a:prstGeom prst="ellipse">
            <a:avLst/>
          </a:prstGeom>
          <a:solidFill>
            <a:srgbClr val="0E5A55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611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assignment (E / A / V)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133088"/>
            <a:ext cx="100584" cy="100584"/>
          </a:xfrm>
          <a:prstGeom prst="ellipse">
            <a:avLst/>
          </a:prstGeom>
          <a:solidFill>
            <a:srgbClr val="0E5A55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0325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node status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— replayable from (case, condition)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86200" y="18745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7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86200" y="23042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Isolation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886200" y="2706624"/>
            <a:ext cx="4480560" cy="0"/>
          </a:xfrm>
          <a:prstGeom prst="line">
            <a:avLst/>
          </a:prstGeom>
          <a:noFill/>
          <a:ln w="9525">
            <a:solidFill>
              <a:srgbClr val="D8E4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28529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5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AGENT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04488" y="3227832"/>
            <a:ext cx="100584" cy="100584"/>
          </a:xfrm>
          <a:prstGeom prst="ellipse">
            <a:avLst/>
          </a:prstGeom>
          <a:solidFill>
            <a:srgbClr val="0E5A55"/>
          </a:solidFill>
          <a:ln/>
        </p:spPr>
      </p:sp>
      <p:sp>
        <p:nvSpPr>
          <p:cNvPr id="21" name="Text 19"/>
          <p:cNvSpPr/>
          <p:nvPr/>
        </p:nvSpPr>
        <p:spPr>
          <a:xfrm>
            <a:off x="4151376" y="31638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memo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904488" y="3593592"/>
            <a:ext cx="100584" cy="100584"/>
          </a:xfrm>
          <a:prstGeom prst="ellipse">
            <a:avLst/>
          </a:prstGeom>
          <a:solidFill>
            <a:srgbClr val="0E5A55"/>
          </a:solidFill>
          <a:ln/>
        </p:spPr>
      </p:sp>
      <p:sp>
        <p:nvSpPr>
          <p:cNvPr id="23" name="Text 21"/>
          <p:cNvSpPr/>
          <p:nvPr/>
        </p:nvSpPr>
        <p:spPr>
          <a:xfrm>
            <a:off x="4151376" y="35295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document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904488" y="3959352"/>
            <a:ext cx="100584" cy="100584"/>
          </a:xfrm>
          <a:prstGeom prst="ellipse">
            <a:avLst/>
          </a:prstGeom>
          <a:solidFill>
            <a:srgbClr val="0E5A55"/>
          </a:solidFill>
          <a:ln/>
        </p:spPr>
      </p:sp>
      <p:sp>
        <p:nvSpPr>
          <p:cNvPr id="25" name="Text 23"/>
          <p:cNvSpPr/>
          <p:nvPr/>
        </p:nvSpPr>
        <p:spPr>
          <a:xfrm>
            <a:off x="4151376" y="38953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tools (when enabled)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886200" y="4297680"/>
            <a:ext cx="155448" cy="155448"/>
          </a:xfrm>
          <a:prstGeom prst="noSmoking">
            <a:avLst/>
          </a:prstGeom>
          <a:solidFill>
            <a:srgbClr val="A8B3AE"/>
          </a:solidFill>
          <a:ln/>
        </p:spPr>
      </p:sp>
      <p:sp>
        <p:nvSpPr>
          <p:cNvPr id="27" name="Text 25"/>
          <p:cNvSpPr/>
          <p:nvPr/>
        </p:nvSpPr>
        <p:spPr>
          <a:xfrm>
            <a:off x="4151376" y="42611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answers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86200" y="4663440"/>
            <a:ext cx="155448" cy="155448"/>
          </a:xfrm>
          <a:prstGeom prst="noSmoking">
            <a:avLst/>
          </a:prstGeom>
          <a:solidFill>
            <a:srgbClr val="A8B3AE"/>
          </a:solidFill>
          <a:ln/>
        </p:spPr>
      </p:sp>
      <p:sp>
        <p:nvSpPr>
          <p:cNvPr id="29" name="Text 27"/>
          <p:cNvSpPr/>
          <p:nvPr/>
        </p:nvSpPr>
        <p:spPr>
          <a:xfrm>
            <a:off x="4151376" y="46268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treatment labels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82512" y="28529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5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AGENT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3227832"/>
            <a:ext cx="100584" cy="100584"/>
          </a:xfrm>
          <a:prstGeom prst="ellipse">
            <a:avLst/>
          </a:prstGeom>
          <a:solidFill>
            <a:srgbClr val="0E5A55"/>
          </a:solidFill>
          <a:ln/>
        </p:spPr>
      </p:sp>
      <p:sp>
        <p:nvSpPr>
          <p:cNvPr id="32" name="Text 30"/>
          <p:cNvSpPr/>
          <p:nvPr/>
        </p:nvSpPr>
        <p:spPr>
          <a:xfrm>
            <a:off x="6647688" y="31638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handoff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82512" y="3566160"/>
            <a:ext cx="155448" cy="155448"/>
          </a:xfrm>
          <a:prstGeom prst="noSmoking">
            <a:avLst/>
          </a:prstGeom>
          <a:solidFill>
            <a:srgbClr val="A8B3AE"/>
          </a:solidFill>
          <a:ln/>
        </p:spPr>
      </p:sp>
      <p:sp>
        <p:nvSpPr>
          <p:cNvPr id="34" name="Text 32"/>
          <p:cNvSpPr/>
          <p:nvPr/>
        </p:nvSpPr>
        <p:spPr>
          <a:xfrm>
            <a:off x="6647688" y="3529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original memo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82512" y="4023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the workflow only through the Manager's handoff.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904488" y="5138928"/>
            <a:ext cx="100584" cy="100584"/>
          </a:xfrm>
          <a:prstGeom prst="ellipse">
            <a:avLst/>
          </a:prstGeom>
          <a:solidFill>
            <a:srgbClr val="0E5A55"/>
          </a:solidFill>
          <a:ln/>
        </p:spPr>
      </p:sp>
      <p:sp>
        <p:nvSpPr>
          <p:cNvPr id="37" name="Text 35"/>
          <p:cNvSpPr/>
          <p:nvPr/>
        </p:nvSpPr>
        <p:spPr>
          <a:xfrm>
            <a:off x="4078224" y="50566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0" y="5111496"/>
            <a:ext cx="155448" cy="155448"/>
          </a:xfrm>
          <a:prstGeom prst="noSmoking">
            <a:avLst/>
          </a:prstGeom>
          <a:solidFill>
            <a:srgbClr val="A8B3AE"/>
          </a:solidFill>
          <a:ln/>
        </p:spPr>
      </p:sp>
      <p:sp>
        <p:nvSpPr>
          <p:cNvPr id="39" name="Text 37"/>
          <p:cNvSpPr/>
          <p:nvPr/>
        </p:nvSpPr>
        <p:spPr>
          <a:xfrm>
            <a:off x="5248656" y="50566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732520" y="187452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7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8732520" y="230428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Logging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732520" y="2706624"/>
            <a:ext cx="2907792" cy="0"/>
          </a:xfrm>
          <a:prstGeom prst="line">
            <a:avLst/>
          </a:prstGeom>
          <a:noFill/>
          <a:ln w="9525">
            <a:solidFill>
              <a:srgbClr val="D8E4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32520" y="285292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 records: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750808" y="3291840"/>
            <a:ext cx="100584" cy="100584"/>
          </a:xfrm>
          <a:prstGeom prst="ellipse">
            <a:avLst/>
          </a:prstGeom>
          <a:solidFill>
            <a:srgbClr val="0E5A55"/>
          </a:solidFill>
          <a:ln/>
        </p:spPr>
      </p:sp>
      <p:sp>
        <p:nvSpPr>
          <p:cNvPr id="45" name="Text 43"/>
          <p:cNvSpPr/>
          <p:nvPr/>
        </p:nvSpPr>
        <p:spPr>
          <a:xfrm>
            <a:off x="8979408" y="31912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execution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750808" y="3694176"/>
            <a:ext cx="100584" cy="100584"/>
          </a:xfrm>
          <a:prstGeom prst="ellipse">
            <a:avLst/>
          </a:prstGeom>
          <a:solidFill>
            <a:srgbClr val="0E5A55"/>
          </a:solidFill>
          <a:ln/>
        </p:spPr>
      </p:sp>
      <p:sp>
        <p:nvSpPr>
          <p:cNvPr id="47" name="Text 45"/>
          <p:cNvSpPr/>
          <p:nvPr/>
        </p:nvSpPr>
        <p:spPr>
          <a:xfrm>
            <a:off x="8979408" y="35935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usage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750808" y="4096512"/>
            <a:ext cx="100584" cy="100584"/>
          </a:xfrm>
          <a:prstGeom prst="ellipse">
            <a:avLst/>
          </a:prstGeom>
          <a:solidFill>
            <a:srgbClr val="0E5A55"/>
          </a:solidFill>
          <a:ln/>
        </p:spPr>
      </p:sp>
      <p:sp>
        <p:nvSpPr>
          <p:cNvPr id="49" name="Text 47"/>
          <p:cNvSpPr/>
          <p:nvPr/>
        </p:nvSpPr>
        <p:spPr>
          <a:xfrm>
            <a:off x="8979408" y="39959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outputs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750808" y="4498848"/>
            <a:ext cx="100584" cy="100584"/>
          </a:xfrm>
          <a:prstGeom prst="ellipse">
            <a:avLst/>
          </a:prstGeom>
          <a:solidFill>
            <a:srgbClr val="0E5A55"/>
          </a:solidFill>
          <a:ln/>
        </p:spPr>
      </p:sp>
      <p:sp>
        <p:nvSpPr>
          <p:cNvPr id="51" name="Text 49"/>
          <p:cNvSpPr/>
          <p:nvPr/>
        </p:nvSpPr>
        <p:spPr>
          <a:xfrm>
            <a:off x="8979408" y="43982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transitions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8732520" y="493776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audit trail per run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0" y="6053328"/>
            <a:ext cx="12188952" cy="548640"/>
          </a:xfrm>
          <a:prstGeom prst="rect">
            <a:avLst/>
          </a:prstGeom>
          <a:solidFill>
            <a:srgbClr val="E9F2F0"/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" y="6053328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A3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 — experimental validity and reproducibility.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4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&amp; NEXT STEPS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Experimental Design to Real LLM Agents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pilot stands — and the path to live agents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670048"/>
            <a:ext cx="10543032" cy="0"/>
          </a:xfrm>
          <a:prstGeom prst="line">
            <a:avLst/>
          </a:prstGeom>
          <a:noFill/>
          <a:ln w="25400">
            <a:solidFill>
              <a:srgbClr val="D8E4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21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E5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75688" y="2551176"/>
            <a:ext cx="237744" cy="237744"/>
          </a:xfrm>
          <a:prstGeom prst="ellipse">
            <a:avLst/>
          </a:prstGeom>
          <a:solidFill>
            <a:srgbClr val="0E5A55"/>
          </a:solidFill>
          <a:ln/>
        </p:spPr>
      </p:sp>
      <p:sp>
        <p:nvSpPr>
          <p:cNvPr id="8" name="Text 6"/>
          <p:cNvSpPr/>
          <p:nvPr/>
        </p:nvSpPr>
        <p:spPr>
          <a:xfrm>
            <a:off x="4453128" y="2121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· GATE 1.5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07024" y="2478024"/>
            <a:ext cx="384048" cy="38404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48472" y="2121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875520" y="2551176"/>
            <a:ext cx="237744" cy="23774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2186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Dataset audit — CUAD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369417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Study design — E × A × 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416966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Sequential workflow specification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46451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Agent isolation framework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5120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Deterministic workflow skeleton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53128" y="3200400"/>
            <a:ext cx="3291840" cy="2240280"/>
          </a:xfrm>
          <a:prstGeom prst="roundRect">
            <a:avLst>
              <a:gd name="adj" fmla="val 3673"/>
            </a:avLst>
          </a:prstGeom>
          <a:solidFill>
            <a:srgbClr val="FDF3E3"/>
          </a:solidFill>
          <a:ln/>
        </p:spPr>
      </p:sp>
      <p:sp>
        <p:nvSpPr>
          <p:cNvPr id="18" name="Text 16"/>
          <p:cNvSpPr/>
          <p:nvPr/>
        </p:nvSpPr>
        <p:spPr>
          <a:xfrm>
            <a:off x="4727448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1.5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27448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validity hardening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27448" y="4389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Strengthening isolation and validity checks before connecting live LLM agents.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58200" y="32186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Prompt design for each role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58200" y="369417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Real Manager &amp; Compliance agents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8200" y="416966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CUAD contract integration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58200" y="464515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Small-scale pilot run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053328"/>
            <a:ext cx="12188952" cy="548640"/>
          </a:xfrm>
          <a:prstGeom prst="rect">
            <a:avLst/>
          </a:prstGeom>
          <a:solidFill>
            <a:srgbClr val="E9F2F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6053328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A3F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milestone — first small-scale pilot run with live Manager &amp; Compliance agents.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4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Design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decisions to confirm before the live-agent pilot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93852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7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93852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Compliance independently re-verify evidence — or mainly audit the Manager handoff?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43230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Re-verification adds a second correction point, but blurs the role boundary.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11091672" cy="0"/>
          </a:xfrm>
          <a:prstGeom prst="line">
            <a:avLst/>
          </a:prstGeom>
          <a:noFill/>
          <a:ln w="9525">
            <a:solidFill>
              <a:srgbClr val="D8E4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175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7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00200" y="30175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mandatory verification mean in A1V1?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351129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the original contract · verify every policy-relevant claim · both?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86784"/>
            <a:ext cx="11091672" cy="0"/>
          </a:xfrm>
          <a:prstGeom prst="line">
            <a:avLst/>
          </a:prstGeom>
          <a:noFill/>
          <a:ln w="9525">
            <a:solidFill>
              <a:srgbClr val="D8E4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9651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7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40965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future studies introduce a Manager–Compliance feedback loop?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459028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realism vs. clean single-pass causal attribution.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65776"/>
            <a:ext cx="11091672" cy="0"/>
          </a:xfrm>
          <a:prstGeom prst="line">
            <a:avLst/>
          </a:prstGeom>
          <a:noFill/>
          <a:ln w="9525">
            <a:solidFill>
              <a:srgbClr val="D8E4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17550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E7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600200" y="517550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CUAD clause categories should be frozen for the final experiment?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566928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choice drives omission salience and correction difficulty.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CUAD Multi-Agent Pilot — Research Update</dc:title>
  <dc:subject>PptxGenJS Presentation</dc:subject>
  <dc:creator>PptxGenJS</dc:creator>
  <cp:lastModifiedBy>PptxGenJS</cp:lastModifiedBy>
  <cp:revision>1</cp:revision>
  <dcterms:created xsi:type="dcterms:W3CDTF">2026-09-22T13:11:27Z</dcterms:created>
  <dcterms:modified xsi:type="dcterms:W3CDTF">2026-09-22T13:11:27Z</dcterms:modified>
</cp:coreProperties>
</file>