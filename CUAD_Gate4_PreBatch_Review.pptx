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CUAD MULTI-AGENT ERROR PROPAGATION  ·  STUDY 1 DEVELOPMENT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4 前置工作总结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一个可运行的多 Agent 错误传播实验机器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48716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60-run development batch 之前已完成内容  ·  待师兄 review 要点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962656"/>
            <a:ext cx="661312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6510">
            <a:solidFill>
              <a:srgbClr val="C2410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60-RUN BATCH 尚未执行 · 当前 = GATE 4 DATA/PREP + LIVE SMOKE · 非 CONFIRMATORY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352958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已完成：真实合同数据构造 · 冻结 Policy · E0/E1 错误注入 · Manager/Compliance workflow · source tool · scoring/logging · 真实 API smoke test —— 最小实验机器已经搭好。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0080" y="4553712"/>
            <a:ext cx="1874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15E59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contract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不可变正文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9464" y="5010912"/>
            <a:ext cx="274320" cy="0"/>
          </a:xfrm>
          <a:prstGeom prst="line">
            <a:avLst/>
          </a:prstGeom>
          <a:noFill/>
          <a:ln w="22225">
            <a:solidFill>
              <a:srgbClr val="115E59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898648" y="4553712"/>
            <a:ext cx="1874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15E59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  (E0 / E1)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受控遗漏注入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28032" y="5010912"/>
            <a:ext cx="274320" cy="0"/>
          </a:xfrm>
          <a:prstGeom prst="line">
            <a:avLst/>
          </a:prstGeom>
          <a:noFill/>
          <a:ln w="22225">
            <a:solidFill>
              <a:srgbClr val="115E59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157216" y="4553712"/>
            <a:ext cx="1874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15E59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起草行动建议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86600" y="5010912"/>
            <a:ext cx="274320" cy="0"/>
          </a:xfrm>
          <a:prstGeom prst="line">
            <a:avLst/>
          </a:prstGeom>
          <a:noFill/>
          <a:ln w="22225">
            <a:solidFill>
              <a:srgbClr val="115E59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415784" y="4553712"/>
            <a:ext cx="1874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15E59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Compliance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政策核验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45168" y="5010912"/>
            <a:ext cx="274320" cy="0"/>
          </a:xfrm>
          <a:prstGeom prst="line">
            <a:avLst/>
          </a:prstGeom>
          <a:noFill/>
          <a:ln w="22225">
            <a:solidFill>
              <a:srgbClr val="115E59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674352" y="4553712"/>
            <a:ext cx="1874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15E59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 action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ESCALATE / ACCEPT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 1 · 2×3 设计：上游错误 E0/E1 × 治理条件 A0V0 / A1V0 / A1V1 —— 真实 API smoke 已在一个正面案例的全部 6 个 cells 跑通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RESEARCH QUESTION &amp;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研究问题与当前边界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上游的遗漏错误进入组织 workflow 后——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会存活传播、被纠正，还是被误转为组织行动依据？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1322771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3970">
            <a:solidFill>
              <a:srgbClr val="115E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RQ1 · SURVIVAL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377440" y="27889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 遗漏能否穿过 Manager / Compliance 进入最终输出？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730752"/>
            <a:ext cx="147255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3970">
            <a:solidFill>
              <a:srgbClr val="115E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RQ2 · CORRECTION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77440" y="368503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tool 与强制核验在哪个环节促成纠正？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4626864"/>
            <a:ext cx="13976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3970">
            <a:solidFill>
              <a:srgbClr val="115E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RQ3 · GROUNDING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77440" y="458114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纠正是否 evidence-grounded（附原文 span）？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15200" y="1417320"/>
            <a:ext cx="4325112" cy="4224528"/>
          </a:xfrm>
          <a:prstGeom prst="roundRect">
            <a:avLst>
              <a:gd name="adj" fmla="val 1732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1691640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当前阶段只做：Study 1 development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89520" y="2212848"/>
            <a:ext cx="3776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实验机器的构建与冻结：cases / policy / memo / prompt / metrics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60-run development batch：已生成、已冻结、尚未执行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3401568"/>
            <a:ext cx="3776472" cy="0"/>
          </a:xfrm>
          <a:prstGeom prst="line">
            <a:avLst/>
          </a:prstGeom>
          <a:noFill/>
          <a:ln w="9525">
            <a:solidFill>
              <a:srgbClr val="C6D9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3566160"/>
            <a:ext cx="37764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Study 2 组织记忆（本阶段不做）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人类被试验证（本阶段不做）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confirmatory 统计（无 p-value / CI / 回归）（本阶段不做）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0" y="5074920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 = 先证明实验机器可信，再谈结果。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897880"/>
            <a:ext cx="11091672" cy="512064"/>
          </a:xfrm>
          <a:prstGeom prst="roundRect">
            <a:avLst>
              <a:gd name="adj" fmla="val 10714"/>
            </a:avLst>
          </a:prstGeom>
          <a:solidFill>
            <a:srgbClr val="FCF0EA"/>
          </a:solidFill>
          <a:ln w="12700">
            <a:solidFill>
              <a:srgbClr val="FC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897880"/>
            <a:ext cx="10634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 deck 全部内容均为 pre-batch / development / smoke 阶段产出，不构成 confirmatory 结果，也不包含任何假设检验结论。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DATA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数据基础：从 CUAD v1 到 12 个 development cases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2395728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5240">
            <a:solidFill>
              <a:srgbClr val="115E59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95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CUAD v1</a:t>
            </a:r>
            <a:endParaRPr lang="en-US" sz="9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 audit（frozen JSON）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008376" y="1920240"/>
            <a:ext cx="374904" cy="0"/>
          </a:xfrm>
          <a:prstGeom prst="line">
            <a:avLst/>
          </a:prstGeom>
          <a:noFill/>
          <a:ln w="22225">
            <a:solidFill>
              <a:srgbClr val="115E59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447288" y="1417320"/>
            <a:ext cx="2395728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5240">
            <a:solidFill>
              <a:srgbClr val="115E59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95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 2 个 clause categories</a:t>
            </a:r>
            <a:endParaRPr lang="en-US" sz="9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单点遗漏可干净构造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07024" y="1920240"/>
            <a:ext cx="374904" cy="0"/>
          </a:xfrm>
          <a:prstGeom prst="line">
            <a:avLst/>
          </a:prstGeom>
          <a:noFill/>
          <a:ln w="22225">
            <a:solidFill>
              <a:srgbClr val="115E59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345936" y="1417320"/>
            <a:ext cx="2395728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5240">
            <a:solidFill>
              <a:srgbClr val="115E59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95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 12 个 dev cases</a:t>
            </a:r>
            <a:endParaRPr lang="en-US" sz="9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positive + 4 sentinel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805672" y="1920240"/>
            <a:ext cx="374904" cy="0"/>
          </a:xfrm>
          <a:prstGeom prst="line">
            <a:avLst/>
          </a:prstGeom>
          <a:noFill/>
          <a:ln w="22225">
            <a:solidFill>
              <a:srgbClr val="115E59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244584" y="1417320"/>
            <a:ext cx="2395728" cy="1005840"/>
          </a:xfrm>
          <a:prstGeom prst="roundRect">
            <a:avLst>
              <a:gd name="adj" fmla="val 6364"/>
            </a:avLst>
          </a:prstGeom>
          <a:solidFill>
            <a:srgbClr val="EAF4F3"/>
          </a:solidFill>
          <a:ln w="15240">
            <a:solidFill>
              <a:srgbClr val="115E59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95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冻结规范原文</a:t>
            </a:r>
            <a:endParaRPr lang="en-US" sz="9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context · fingerprint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206654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510</a:t>
            </a:r>
            <a:endParaRPr lang="en-US" sz="3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807208" y="2880360"/>
            <a:ext cx="206654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3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clause categories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065776" y="2880360"/>
            <a:ext cx="206654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20,910</a:t>
            </a:r>
            <a:endParaRPr lang="en-US" sz="3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contract×category QA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324344" y="2880360"/>
            <a:ext cx="206654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13,823</a:t>
            </a:r>
            <a:endParaRPr lang="en-US" sz="3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answer spans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582912" y="2880360"/>
            <a:ext cx="2066544" cy="1371600"/>
          </a:xfrm>
          <a:prstGeom prst="roundRect">
            <a:avLst>
              <a:gd name="adj" fmla="val 4000"/>
            </a:avLst>
          </a:prstGeom>
          <a:solidFill>
            <a:srgbClr val="FCF0EA"/>
          </a:solidFill>
          <a:ln w="12700">
            <a:solidFill>
              <a:srgbClr val="EBCDBB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3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development cases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CUAD 提供什么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651760" y="4709160"/>
            <a:ext cx="8988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可定位的 gold evidence span —— 不直接提供组织决策真值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091672" cy="0"/>
          </a:xfrm>
          <a:prstGeom prst="line">
            <a:avLst/>
          </a:prstGeom>
          <a:noFill/>
          <a:ln w="6350">
            <a:solidFill>
              <a:srgbClr val="D9E2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2760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决策真值从哪来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651760" y="5276088"/>
            <a:ext cx="8988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POLICY-01 从 evidence 状态推导（下一页）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733288"/>
            <a:ext cx="11091672" cy="0"/>
          </a:xfrm>
          <a:prstGeom prst="line">
            <a:avLst/>
          </a:prstGeom>
          <a:noFill/>
          <a:ln w="6350">
            <a:solidFill>
              <a:srgbClr val="D9E2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84301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规范原文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651760" y="5843016"/>
            <a:ext cx="8988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frozen JSON context；source tool 读取的合同正文与之一致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CASES &amp; POLICY-01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构造与 POLICY-01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91440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371600"/>
                <a:gridCol w="16459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Clause category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Cases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Gold action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E5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Change Of Control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positive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2410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ESCALATE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Termination For Convenience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positive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2410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ESCALATE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Negative sentinels（无目标条款）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5E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ACCEPT *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3101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ACCEPT 仅当两个目标条款均 confirmed absent；只要有一项 present 或 unknown → ESCALATE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3767328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为什么选这两类条款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两类都容易构造『恰好一个目标条款存在』的单点遗漏，比 Anti-Assignment 更干净；negative sentinels 只用 E0，不制造 E1。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4919472"/>
            <a:ext cx="326989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3970">
            <a:solidFill>
              <a:srgbClr val="C2410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· 12 CASES = PENDING_HUMAN_REVIEW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53218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 QC 已完成；尚未声称完成人工 legal review。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949440" y="1417320"/>
            <a:ext cx="4690872" cy="4434840"/>
          </a:xfrm>
          <a:prstGeom prst="roundRect">
            <a:avLst>
              <a:gd name="adj" fmla="val 1649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23760" y="1618488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POLICY-01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organizational policy · 非法律意见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223760" y="2377440"/>
            <a:ext cx="4142232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C6D9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06640" y="237744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任一目标条款 present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966960" y="2377440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296144" y="237744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ESCALATE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223760" y="3035808"/>
            <a:ext cx="4142232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C6D9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06640" y="30358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两条均 confirmed absent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966960" y="3035808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296144" y="303580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223760" y="3694176"/>
            <a:ext cx="4142232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C6D9D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06640" y="369417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unknown（无法确认）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966960" y="3694176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296144" y="369417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ESCALATE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223760" y="4572000"/>
            <a:ext cx="4142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CUAD label ≠ 组织决策：policy 把 evidence 状态映射为组织行动。这个映射本身是实验设定，需要师兄 review。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CONTROLLED OMISSION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E0 / E1：受控遗漏的 memo 配对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892040" cy="3246120"/>
          </a:xfrm>
          <a:prstGeom prst="roundRect">
            <a:avLst>
              <a:gd name="adj" fmla="val 2254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72768"/>
            <a:ext cx="445496" cy="329184"/>
          </a:xfrm>
          <a:prstGeom prst="roundRect">
            <a:avLst>
              <a:gd name="adj" fmla="val 13889"/>
            </a:avLst>
          </a:prstGeom>
          <a:solidFill>
            <a:srgbClr val="115E59"/>
          </a:solidFill>
          <a:ln w="13970">
            <a:solidFill>
              <a:srgbClr val="115E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1499616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 memo</a:t>
            </a: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研究者依据 frozen CUAD evidence 构造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748272" y="1371600"/>
            <a:ext cx="4892040" cy="3246120"/>
          </a:xfrm>
          <a:prstGeom prst="roundRect">
            <a:avLst>
              <a:gd name="adj" fmla="val 2254"/>
            </a:avLst>
          </a:prstGeom>
          <a:solidFill>
            <a:srgbClr val="FCF0EA"/>
          </a:solidFill>
          <a:ln w="12700">
            <a:solidFill>
              <a:srgbClr val="FCF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22592" y="1572768"/>
            <a:ext cx="445496" cy="329184"/>
          </a:xfrm>
          <a:prstGeom prst="roundRect">
            <a:avLst>
              <a:gd name="adj" fmla="val 13889"/>
            </a:avLst>
          </a:prstGeom>
          <a:solidFill>
            <a:srgbClr val="C2410C"/>
          </a:solidFill>
          <a:ln w="13970">
            <a:solidFill>
              <a:srgbClr val="C2410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16952" y="1499616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遗漏 memo</a:t>
            </a: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E0 程序化派生（自动、可复现）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2121408"/>
            <a:ext cx="43434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9E2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2140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claim-01 · non-target claim · src-31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619756"/>
            <a:ext cx="43434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9E2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61975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claim-02 · non-target claim · src-07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118104"/>
            <a:ext cx="43434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7780">
            <a:solidFill>
              <a:srgbClr val="115E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118104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claim-03 · Change Of Control · src-12, src-47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3209544"/>
            <a:ext cx="658368" cy="210312"/>
          </a:xfrm>
          <a:prstGeom prst="roundRect">
            <a:avLst>
              <a:gd name="adj" fmla="val 13043"/>
            </a:avLst>
          </a:prstGeom>
          <a:solidFill>
            <a:srgbClr val="115E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22960" y="3616452"/>
            <a:ext cx="43434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9E2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616452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claim-04 · non-target claim · src-58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4114800"/>
            <a:ext cx="43434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9E2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114800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claim-05 · non-target claim · src-19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22592" y="2121408"/>
            <a:ext cx="43434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9E2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87184" y="212140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claim-01 · non-target claim · src-31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22592" y="2619756"/>
            <a:ext cx="43434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9E2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87184" y="261975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claim-02 · non-target claim · src-07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22592" y="3118104"/>
            <a:ext cx="43434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7780">
            <a:solidFill>
              <a:srgbClr val="C2410C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187184" y="3118104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claim-03 · neutral non-target claim · src-71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88752" y="3209544"/>
            <a:ext cx="658368" cy="210312"/>
          </a:xfrm>
          <a:prstGeom prst="roundRect">
            <a:avLst>
              <a:gd name="adj" fmla="val 13043"/>
            </a:avLst>
          </a:prstGeom>
          <a:solidFill>
            <a:srgbClr val="C241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022592" y="3616452"/>
            <a:ext cx="43434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9E2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87184" y="3616452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claim-04 · non-target claim · src-58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22592" y="4114800"/>
            <a:ext cx="43434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9E2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87184" y="4114800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claim-05 · non-target claim · src-19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40680" y="265176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单点差异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532120" y="3063240"/>
            <a:ext cx="1124712" cy="0"/>
          </a:xfrm>
          <a:prstGeom prst="line">
            <a:avLst/>
          </a:prstGeom>
          <a:noFill/>
          <a:ln w="22225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548640" y="4754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受控不变量：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828800" y="4754880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同合同 · 同 schema · 同 5 claims · ordering 基本一致 —— 差异被限制在单一目标 claim 及其 source ids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48640" y="51937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Memo-pair QC（E0 vs E1 逐对自动比较）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48640" y="553212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2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pairs 全部 clean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3346704" y="553212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QC flags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144768" y="553212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word diff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8942832" y="553212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2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char diff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WORKFLOW &amp; CONDITIONS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 与三个治理条件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874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15E59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contract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不可变正文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9464" y="1828800"/>
            <a:ext cx="274320" cy="0"/>
          </a:xfrm>
          <a:prstGeom prst="line">
            <a:avLst/>
          </a:prstGeom>
          <a:noFill/>
          <a:ln w="22225">
            <a:solidFill>
              <a:srgbClr val="115E59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898648" y="1371600"/>
            <a:ext cx="1874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15E59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  (E0 / E1)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受控遗漏注入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28032" y="1828800"/>
            <a:ext cx="274320" cy="0"/>
          </a:xfrm>
          <a:prstGeom prst="line">
            <a:avLst/>
          </a:prstGeom>
          <a:noFill/>
          <a:ln w="22225">
            <a:solidFill>
              <a:srgbClr val="115E59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157216" y="1371600"/>
            <a:ext cx="1874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15E59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起草行动建议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86600" y="1828800"/>
            <a:ext cx="274320" cy="0"/>
          </a:xfrm>
          <a:prstGeom prst="line">
            <a:avLst/>
          </a:prstGeom>
          <a:noFill/>
          <a:ln w="22225">
            <a:solidFill>
              <a:srgbClr val="115E59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415784" y="1371600"/>
            <a:ext cx="1874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15E59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Compliance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政策核验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45168" y="1828800"/>
            <a:ext cx="274320" cy="0"/>
          </a:xfrm>
          <a:prstGeom prst="line">
            <a:avLst/>
          </a:prstGeom>
          <a:noFill/>
          <a:ln w="22225">
            <a:solidFill>
              <a:srgbClr val="115E59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674352" y="1371600"/>
            <a:ext cx="1874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15E59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 action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ESCALATE / ACCEPT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77340" y="2286000"/>
            <a:ext cx="0" cy="256032"/>
          </a:xfrm>
          <a:prstGeom prst="line">
            <a:avLst/>
          </a:prstGeom>
          <a:noFill/>
          <a:ln w="15875">
            <a:solidFill>
              <a:srgbClr val="115E5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2542032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F5FAF9"/>
          </a:solidFill>
          <a:ln w="12700">
            <a:solidFill>
              <a:srgbClr val="115E59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68680" y="261518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search_contract(query)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open_source_span(paragraph_id)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只读不可变合同正文 —— 不暴露 gold answer / target category / 答案位置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6636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工具在 A1V0 / A1V1 可用（上图与下表对应）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9144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39319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Condition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Source tool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核验义务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E5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5E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A0V0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可选核验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5E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A1V0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5E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可选核验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5E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A1V1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5E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强制逐条 policy 核验 + 提交 evidence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8229600" y="3840480"/>
            <a:ext cx="3410712" cy="2121408"/>
          </a:xfrm>
          <a:prstGeom prst="roundRect">
            <a:avLst>
              <a:gd name="adj" fmla="val 3448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85632" y="4069080"/>
            <a:ext cx="2898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设计要点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2×3：每个正面案例 6 cells（E0/E1 × 3 条件）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 → Compliance 单向流转，反馈回路在本 pilot 固定关闭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·  PROMPTS · NEEDS YOUR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需要保证什么 —— 请师兄重点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115E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prompts/manager_v1.md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931920" y="1389888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115E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prompts/compliance_v1.md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06640" y="1298448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1 frozen · review_prompts_gate4.py 11/11 PASS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未基于任何 outcome 做优化（防 leakage）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67712"/>
            <a:ext cx="402336" cy="402336"/>
          </a:xfrm>
          <a:prstGeom prst="ellipse">
            <a:avLst/>
          </a:prstGeom>
          <a:solidFill>
            <a:srgbClr val="115E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52144" y="2212848"/>
            <a:ext cx="6355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 是否应该更主动地查证原文、挑战 memo 结论？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152144" y="2926080"/>
            <a:ext cx="6355080" cy="0"/>
          </a:xfrm>
          <a:prstGeom prst="line">
            <a:avLst/>
          </a:prstGeom>
          <a:noFill/>
          <a:ln w="6350">
            <a:solidFill>
              <a:srgbClr val="D9E2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90672"/>
            <a:ext cx="402336" cy="402336"/>
          </a:xfrm>
          <a:prstGeom prst="ellipse">
            <a:avLst/>
          </a:prstGeom>
          <a:solidFill>
            <a:srgbClr val="115E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52144" y="3035808"/>
            <a:ext cx="6355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Compliance 是否足够独立，而不是复述 Manager 的结论？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152144" y="3749040"/>
            <a:ext cx="6355080" cy="0"/>
          </a:xfrm>
          <a:prstGeom prst="line">
            <a:avLst/>
          </a:prstGeom>
          <a:noFill/>
          <a:ln w="6350">
            <a:solidFill>
              <a:srgbClr val="D9E2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13632"/>
            <a:ext cx="402336" cy="402336"/>
          </a:xfrm>
          <a:prstGeom prst="ellipse">
            <a:avLst/>
          </a:prstGeom>
          <a:solidFill>
            <a:srgbClr val="115E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2144" y="3858768"/>
            <a:ext cx="6355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unknown → ESCALATE 作为本实验 policy 是否可接受？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152144" y="4572000"/>
            <a:ext cx="6355080" cy="0"/>
          </a:xfrm>
          <a:prstGeom prst="line">
            <a:avLst/>
          </a:prstGeom>
          <a:noFill/>
          <a:ln w="6350">
            <a:solidFill>
              <a:srgbClr val="D9E2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36592"/>
            <a:ext cx="402336" cy="402336"/>
          </a:xfrm>
          <a:prstGeom prst="ellipse">
            <a:avLst/>
          </a:prstGeom>
          <a:solidFill>
            <a:srgbClr val="115E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52144" y="4681728"/>
            <a:ext cx="6355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A1V1 的强制逐条核验 + evidence 义务写得是否足够清楚？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1152144" y="5394960"/>
            <a:ext cx="6355080" cy="0"/>
          </a:xfrm>
          <a:prstGeom prst="line">
            <a:avLst/>
          </a:prstGeom>
          <a:noFill/>
          <a:ln w="6350">
            <a:solidFill>
              <a:srgbClr val="D9E2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559552"/>
            <a:ext cx="402336" cy="402336"/>
          </a:xfrm>
          <a:prstGeom prst="ellipse">
            <a:avLst/>
          </a:prstGeom>
          <a:solidFill>
            <a:srgbClr val="115E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2144" y="5504688"/>
            <a:ext cx="6355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是否避免泄露 target category / gold answer？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01000" y="2212848"/>
            <a:ext cx="3639312" cy="3977640"/>
          </a:xfrm>
          <a:prstGeom prst="roundRect">
            <a:avLst>
              <a:gd name="adj" fmla="val 2010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57032" y="2487168"/>
            <a:ext cx="31272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为什么现在 review</a:t>
            </a:r>
            <a:endParaRPr lang="en-US" sz="14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是实验仪器：v1 已冻结，60-run 期间不变。</a:t>
            </a:r>
            <a:endParaRPr lang="en-US" sz="14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跑完 batch 再改 prompt = 更换仪器，前后结果不可比。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现在确认责任边界与核验义务，成本最低。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57032" y="5669280"/>
            <a:ext cx="299008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3970">
            <a:solidFill>
              <a:srgbClr val="115E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FOCUS · 责任边界 / 独立性 / 泄露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·  REPRODUCIBILITY &amp; QC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工程可信度：冻结、日志与回归保护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976</a:t>
            </a:r>
            <a:endParaRPr lang="en-US" sz="3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 passed（全量）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362249" y="137160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185</a:t>
            </a:r>
            <a:endParaRPr lang="en-US" sz="3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Gate-4 新增 tests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75858" y="137160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11/11</a:t>
            </a:r>
            <a:endParaRPr lang="en-US" sz="3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review checks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989466" y="137160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6/6</a:t>
            </a:r>
            <a:endParaRPr lang="en-US" sz="3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smoke cells（真实 API）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 manifests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cases / memos / prompts / run plan 全部 fingerprint 冻结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584448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原始日志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每次请求-响应完整记录，可审计、可复盘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425696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截断处理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finish_reason 必记录；truncation 显式报错，不再静默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266944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离线安全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socket guard：离线测试零真实网络请求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91072" y="274320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可恢复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60-run plan resume-safe：中断续跑，不重复、不遗漏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91072" y="3584448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防泄漏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未基于 outcome 调优（无 test-set tuning）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91072" y="4425696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覆盖面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building · policy · memo pairs · run plan · prompt review · live safety · smoke · truncation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91072" y="5266944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模型配置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DeepSeek-V4.1-Flash · temp 0.0 · out 4096 · timeout 180s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2788920"/>
            <a:ext cx="0" cy="3108960"/>
          </a:xfrm>
          <a:prstGeom prst="line">
            <a:avLst/>
          </a:prstGeom>
          <a:noFill/>
          <a:ln w="6350">
            <a:solidFill>
              <a:srgbClr val="D9E2E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·  LIVE SMOKE · REAL API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smoke：6/6 cells 通过，并抓到一个截断 bug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778240" y="786384"/>
            <a:ext cx="233537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3970">
            <a:solidFill>
              <a:srgbClr val="C2410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 STAGE · 非 CONFIRMATORY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2432304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6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cells 完成（1 正面案例）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145536" y="1463040"/>
            <a:ext cx="2432304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calls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679192"/>
            <a:ext cx="2432304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calls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145536" y="2679192"/>
            <a:ext cx="2432304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83,916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total tokens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3895344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format repairs（bug 修复后）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49560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cells = 1 个正面案例 × {E0, E1} × {A0V0, A1V0, A1V1}，全部真实 API 调用。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5349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60-run batch 尚未执行 —— 上述数字只覆盖 smoke。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2160" y="1463040"/>
            <a:ext cx="5788152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691640"/>
            <a:ext cx="5239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发现并修复：truncation 被误读为 format failure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126480" y="2103120"/>
            <a:ext cx="5239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 smoke 在 1024 output tokens 处截断；provider 的 reasoning model 在产出 content 前先消耗 tokens；adapter 曾丢弃 finish_reason，使截断看起来像格式错误。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315468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修复（已全部落地）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493008"/>
            <a:ext cx="5239512" cy="393192"/>
          </a:xfrm>
          <a:prstGeom prst="roundRect">
            <a:avLst>
              <a:gd name="adj" fmla="val 9302"/>
            </a:avLst>
          </a:prstGeom>
          <a:solidFill>
            <a:srgbClr val="F5FAF9"/>
          </a:solidFill>
          <a:ln w="9525">
            <a:solidFill>
              <a:srgbClr val="C6D9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3493008"/>
            <a:ext cx="4965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 finish_reason 全程记录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3950208"/>
            <a:ext cx="5239512" cy="393192"/>
          </a:xfrm>
          <a:prstGeom prst="roundRect">
            <a:avLst>
              <a:gd name="adj" fmla="val 9302"/>
            </a:avLst>
          </a:prstGeom>
          <a:solidFill>
            <a:srgbClr val="F5FAF9"/>
          </a:solidFill>
          <a:ln w="9525">
            <a:solidFill>
              <a:srgbClr val="C6D9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3950208"/>
            <a:ext cx="4965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 truncation → 显式 error，不再静默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4407408"/>
            <a:ext cx="5239512" cy="393192"/>
          </a:xfrm>
          <a:prstGeom prst="roundRect">
            <a:avLst>
              <a:gd name="adj" fmla="val 9302"/>
            </a:avLst>
          </a:prstGeom>
          <a:solidFill>
            <a:srgbClr val="F5FAF9"/>
          </a:solidFill>
          <a:ln w="9525">
            <a:solidFill>
              <a:srgbClr val="C6D9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4407408"/>
            <a:ext cx="4965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 max_output_tokens  1024 → 4096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4864608"/>
            <a:ext cx="5239512" cy="393192"/>
          </a:xfrm>
          <a:prstGeom prst="roundRect">
            <a:avLst>
              <a:gd name="adj" fmla="val 9302"/>
            </a:avLst>
          </a:prstGeom>
          <a:solidFill>
            <a:srgbClr val="F5FAF9"/>
          </a:solidFill>
          <a:ln w="9525">
            <a:solidFill>
              <a:srgbClr val="C6D9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4864608"/>
            <a:ext cx="4965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 timeout  60s → 180s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80644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smoke 的价值：在花费 60-run batch 成本之前，先抓住基础设施问题。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·  WHY PROCESS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Smoke 中的一个测量发现：accuracy 会掩盖错误存活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6510">
            <a:solidFill>
              <a:srgbClr val="C2410C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 + A0V0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 smoke 运行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01568" y="141732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240">
            <a:solidFill>
              <a:srgbClr val="115E59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遗漏穿过 Manager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未触发纠正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54496" y="141732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240">
            <a:solidFill>
              <a:srgbClr val="115E59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遗漏穿过 Compliance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仍未触发纠正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07424" y="141732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EAF4F3"/>
          </a:solidFill>
          <a:ln w="15240">
            <a:solidFill>
              <a:srgbClr val="115E59"/>
            </a:solidFill>
            <a:prstDash val="solid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final_action_correct</a:t>
            </a:r>
            <a:endParaRPr lang="en-US" sz="125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TRUE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仅因 unknown → ESCALATE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18104" y="2103120"/>
            <a:ext cx="228600" cy="0"/>
          </a:xfrm>
          <a:prstGeom prst="line">
            <a:avLst/>
          </a:prstGeom>
          <a:noFill/>
          <a:ln w="22225">
            <a:solidFill>
              <a:srgbClr val="115E5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71032" y="2103120"/>
            <a:ext cx="228600" cy="0"/>
          </a:xfrm>
          <a:prstGeom prst="line">
            <a:avLst/>
          </a:prstGeom>
          <a:noFill/>
          <a:ln w="22225">
            <a:solidFill>
              <a:srgbClr val="115E5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823960" y="2103120"/>
            <a:ext cx="228600" cy="0"/>
          </a:xfrm>
          <a:prstGeom prst="line">
            <a:avLst/>
          </a:prstGeom>
          <a:noFill/>
          <a:ln w="22225">
            <a:solidFill>
              <a:srgbClr val="115E59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48640" y="2971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 对目标条款输出 unknown；POLICY-01 把 unknown 映射为 ESCALATE —— 最终行动碰巧正确，但错误全程存活、从未被发现。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40156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 final_action_correct，会把「错误存活但碰巧行动正确」计为成功 —— 所以必须测量过程。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3970">
            <a:solidFill>
              <a:srgbClr val="115E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251960"/>
            <a:ext cx="2368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error_survival_manager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遗漏是否进入 Manager 的输出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46704" y="411480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3970">
            <a:solidFill>
              <a:srgbClr val="115E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11296" y="4251960"/>
            <a:ext cx="2368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error_survival_compliance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遗漏是否进入 Compliance 的输出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44768" y="411480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3970">
            <a:solidFill>
              <a:srgbClr val="115E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4251960"/>
            <a:ext cx="2368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correction_stage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纠正发生在哪个环节（manager / compliance / 未发生）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42832" y="411480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3970">
            <a:solidFill>
              <a:srgbClr val="115E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07424" y="4251960"/>
            <a:ext cx="2368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corrected_with_evidence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纠正是否附带 source evidence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上例来自 smoke 的单次观察（development 阶段示例），不是实验结果；四个 process metrics 已在 scoring 中实现。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·  REVIEW CHECKLIST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60-run 前，请师兄确认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15E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/ policy / memo 构造是否可接受？（12 cases · POLICY-01 · E0/E1 配对）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115568" y="2167128"/>
            <a:ext cx="6126480" cy="0"/>
          </a:xfrm>
          <a:prstGeom prst="line">
            <a:avLst/>
          </a:prstGeom>
          <a:noFill/>
          <a:ln w="6350">
            <a:solidFill>
              <a:srgbClr val="D9E2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9572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15E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28600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责任边界是否合理？（Manager 挑战责任 · Compliance 独立性）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115568" y="3008376"/>
            <a:ext cx="6126480" cy="0"/>
          </a:xfrm>
          <a:prstGeom prst="line">
            <a:avLst/>
          </a:prstGeom>
          <a:noFill/>
          <a:ln w="6350">
            <a:solidFill>
              <a:srgbClr val="D9E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3697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15E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127248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unknown → ESCALATE 作为实验 policy 是否可接受？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115568" y="3849624"/>
            <a:ext cx="6126480" cy="0"/>
          </a:xfrm>
          <a:prstGeom prst="line">
            <a:avLst/>
          </a:prstGeom>
          <a:noFill/>
          <a:ln w="6350">
            <a:solidFill>
              <a:srgbClr val="D9E2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07822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15E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968496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 metrics 是否足以覆盖错误存活与纠正？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115568" y="4690872"/>
            <a:ext cx="6126480" cy="0"/>
          </a:xfrm>
          <a:prstGeom prst="line">
            <a:avLst/>
          </a:prstGeom>
          <a:noFill/>
          <a:ln w="6350">
            <a:solidFill>
              <a:srgbClr val="D9E2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91947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15E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4809744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是否批准执行已冻结的 60-run development batch？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406640" y="1444752"/>
            <a:ext cx="4233672" cy="4041648"/>
          </a:xfrm>
          <a:prstGeom prst="roundRect">
            <a:avLst>
              <a:gd name="adj" fmla="val 1810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62672" y="1691640"/>
            <a:ext cx="3721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60-run composition（已冻结 · 未执行）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62672" y="2148840"/>
            <a:ext cx="3721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positive × {E0,E1} × 3 cond = 48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sentinels × E0 × 3 cond = 12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60 · E0 36 / E1 24 · 每条件 20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62672" y="3520440"/>
            <a:ext cx="3721608" cy="0"/>
          </a:xfrm>
          <a:prstGeom prst="line">
            <a:avLst/>
          </a:prstGeom>
          <a:noFill/>
          <a:ln w="9525">
            <a:solidFill>
              <a:srgbClr val="C6D9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62672" y="3703320"/>
            <a:ext cx="3721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 development batch：用于诊断与设计确认，不是正式 pilot，不产生 confirmatory 结论。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662672" y="4617720"/>
            <a:ext cx="2342693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3970">
            <a:solidFill>
              <a:srgbClr val="115E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5E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PLAN FROZEN · RESUME-SAFE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5806440"/>
            <a:ext cx="25146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240">
            <a:solidFill>
              <a:srgbClr val="115E59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 60 jobs（冻结 plan）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118104" y="6172200"/>
            <a:ext cx="228600" cy="0"/>
          </a:xfrm>
          <a:prstGeom prst="line">
            <a:avLst/>
          </a:prstGeom>
          <a:noFill/>
          <a:ln w="22225">
            <a:solidFill>
              <a:srgbClr val="115E59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401568" y="5806440"/>
            <a:ext cx="25146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240">
            <a:solidFill>
              <a:srgbClr val="115E59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diagnostics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971032" y="6172200"/>
            <a:ext cx="228600" cy="0"/>
          </a:xfrm>
          <a:prstGeom prst="line">
            <a:avLst/>
          </a:prstGeom>
          <a:noFill/>
          <a:ln w="22225">
            <a:solidFill>
              <a:srgbClr val="115E59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254496" y="5806440"/>
            <a:ext cx="25146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240">
            <a:solidFill>
              <a:srgbClr val="115E59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/ REVISE / STOP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823960" y="6172200"/>
            <a:ext cx="228600" cy="0"/>
          </a:xfrm>
          <a:prstGeom prst="line">
            <a:avLst/>
          </a:prstGeom>
          <a:noFill/>
          <a:ln w="22225">
            <a:solidFill>
              <a:srgbClr val="115E59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9107424" y="5806440"/>
            <a:ext cx="2514600" cy="731520"/>
          </a:xfrm>
          <a:prstGeom prst="roundRect">
            <a:avLst>
              <a:gd name="adj" fmla="val 8750"/>
            </a:avLst>
          </a:prstGeom>
          <a:solidFill>
            <a:srgbClr val="115E59"/>
          </a:solidFill>
          <a:ln w="15240">
            <a:solidFill>
              <a:srgbClr val="115E59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5 决策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CUAD Gate 4 Pre-Batch Review</dc:title>
  <dc:subject>PptxGenJS Presentation</dc:subject>
  <dc:creator>PptxGenJS</dc:creator>
  <cp:lastModifiedBy>PptxGenJS</cp:lastModifiedBy>
  <cp:revision>1</cp:revision>
  <dcterms:created xsi:type="dcterms:W3CDTF">2026-09-23T00:27:34Z</dcterms:created>
  <dcterms:modified xsi:type="dcterms:W3CDTF">2026-09-23T00:27:34Z</dcterms:modified>
</cp:coreProperties>
</file>